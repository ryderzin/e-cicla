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297680"/>
            <a:ext cx="8046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70C0"/>
                </a:solidFill>
                <a:latin typeface="Arial"/>
              </a:defRPr>
            </a:pPr>
            <a:r>
              <a:t>E-Cicla: Plataforma Web para Mapeamento, Consulta e Gestão de Pontos de Coleta de Lixo Eletrônico</a:t>
            </a:r>
          </a:p>
          <a:p>
            <a:pPr>
              <a:defRPr sz="1300" b="1">
                <a:solidFill>
                  <a:srgbClr val="28323C"/>
                </a:solidFill>
                <a:latin typeface="Arial"/>
              </a:defRPr>
            </a:pPr>
            <a:r>
              <a:t>Ryan Leite; Ryan Vinicius</a:t>
            </a:r>
          </a:p>
          <a:p>
            <a:pPr>
              <a:defRPr sz="1100">
                <a:solidFill>
                  <a:srgbClr val="5A646E"/>
                </a:solidFill>
                <a:latin typeface="Arial"/>
              </a:defRPr>
            </a:pPr>
            <a:r>
              <a:t>Faculdade de Tecnologia da Zona Leste (Fatec Zona Leste) – Centro Paula Souza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0" y="1280160"/>
            <a:ext cx="54864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Cenário Global e Riscos: </a:t>
            </a:r>
            <a:r>
              <a:rPr sz="1200">
                <a:solidFill>
                  <a:srgbClr val="142337"/>
                </a:solidFill>
                <a:latin typeface="Arial"/>
              </a:rPr>
              <a:t>Acelerada obsolescência e consumo massivo geram mais de 62 milhões de toneladas anuais de lixo eletrônico, com menos de 25% reciclados (ONU / Baldé et al., 2024). Descarte incorreto contamina água e solo com lítio, mercúrio e cádmio.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Marco Legal Brasileiro: </a:t>
            </a:r>
            <a:r>
              <a:rPr sz="1200">
                <a:solidFill>
                  <a:srgbClr val="142337"/>
                </a:solidFill>
                <a:latin typeface="Arial"/>
              </a:rPr>
              <a:t>A PNRS (Lei nº 12.305/2010) e o Decreto nº 10.240/2020 fixam metas e instrumentos de logística reversa e implantação de Pontos de Entrega Voluntária (PEVs).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Comportamento e Assimetria de Informação: </a:t>
            </a:r>
            <a:r>
              <a:rPr sz="1200">
                <a:solidFill>
                  <a:srgbClr val="142337"/>
                </a:solidFill>
                <a:latin typeface="Arial"/>
              </a:rPr>
              <a:t>Pesquisas da Green Eletron (2021) apontam que 87% dos brasileiros guardam eletrônicos obsoletos em domicílio e 50% recorrem ao lixo comum, motivados pela falta de conhecimento sobre pontos de coleta.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O Problema Central: </a:t>
            </a:r>
            <a:r>
              <a:rPr sz="1200">
                <a:solidFill>
                  <a:srgbClr val="142337"/>
                </a:solidFill>
                <a:latin typeface="Arial"/>
              </a:rPr>
              <a:t>Informações oficiais encontram-se dispersas em páginas governamentais, planilhas e PDFs estáticos desatualizados, sem uma interface que especifique com clareza materiais aceitos e horários de funcionamento.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0" y="1280160"/>
            <a:ext cx="54864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Questão Norteadora: </a:t>
            </a:r>
            <a:r>
              <a:rPr sz="1200">
                <a:solidFill>
                  <a:srgbClr val="142337"/>
                </a:solidFill>
                <a:latin typeface="Arial"/>
              </a:rPr>
              <a:t>Como uma aplicação web pode centralizar o mapeamento, a consulta e a gestão de postos de coleta, articulando dados abertos e curadoria administrativa para incentivar o descarte sustentável?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Objetivo Geral: </a:t>
            </a:r>
            <a:r>
              <a:rPr sz="1200">
                <a:solidFill>
                  <a:srgbClr val="142337"/>
                </a:solidFill>
                <a:latin typeface="Arial"/>
              </a:rPr>
              <a:t>Desenvolver um sistema web responsivo para centralizar o mapeamento, consulta detalhada, envio de sugestões moderadas e visualização de impacto do descarte de lixo eletrônico.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Objetivos Específicos: 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0070C0"/>
                </a:solidFill>
                <a:latin typeface="Arial"/>
              </a:rPr>
              <a:t>   – </a:t>
            </a:r>
            <a:r>
              <a:rPr sz="1050">
                <a:solidFill>
                  <a:srgbClr val="1E2D41"/>
                </a:solidFill>
                <a:latin typeface="Arial"/>
              </a:rPr>
              <a:t>Extrair e integrar dados territoriais abertos via OpenStreetMap (Overpass API) e Nominatim;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0070C0"/>
                </a:solidFill>
                <a:latin typeface="Arial"/>
              </a:rPr>
              <a:t>   – </a:t>
            </a:r>
            <a:r>
              <a:rPr sz="1050">
                <a:solidFill>
                  <a:srgbClr val="1E2D41"/>
                </a:solidFill>
                <a:latin typeface="Arial"/>
              </a:rPr>
              <a:t>Realizar curadoria manual para enriquecimento de materiais aceitos e horários de funcionamento;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0070C0"/>
                </a:solidFill>
                <a:latin typeface="Arial"/>
              </a:rPr>
              <a:t>   – </a:t>
            </a:r>
            <a:r>
              <a:rPr sz="1050">
                <a:solidFill>
                  <a:srgbClr val="1E2D41"/>
                </a:solidFill>
                <a:latin typeface="Arial"/>
              </a:rPr>
              <a:t>Implementar catálogo e mapa interativo georreferenciado para o Estado de São Paulo;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0070C0"/>
                </a:solidFill>
                <a:latin typeface="Arial"/>
              </a:rPr>
              <a:t>   – </a:t>
            </a:r>
            <a:r>
              <a:rPr sz="1050">
                <a:solidFill>
                  <a:srgbClr val="1E2D41"/>
                </a:solidFill>
                <a:latin typeface="Arial"/>
              </a:rPr>
              <a:t>Estruturar governança com moderação administrativa (RBAC) para sugestões da comunidade;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0070C0"/>
                </a:solidFill>
                <a:latin typeface="Arial"/>
              </a:rPr>
              <a:t>   – </a:t>
            </a:r>
            <a:r>
              <a:rPr sz="1050">
                <a:solidFill>
                  <a:srgbClr val="1E2D41"/>
                </a:solidFill>
                <a:latin typeface="Arial"/>
              </a:rPr>
              <a:t>Disponibilizar painel educativo de conscientização e impacto ambiental do descarte.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0" y="1280160"/>
            <a:ext cx="54864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Logística Reversa e Sustentabilidade Urbana: </a:t>
            </a:r>
            <a:r>
              <a:rPr sz="1200">
                <a:solidFill>
                  <a:srgbClr val="142337"/>
                </a:solidFill>
                <a:latin typeface="Arial"/>
              </a:rPr>
              <a:t>Princípios da Política Nacional de Resíduos Sólidos (Lei 12.305/2010; Dec. 10.240/2020) e alinhamento aos Objetivos de Desenvolvimento Sustentável da ONU (ODS 11 – Cidades Sustentáveis e ODS 12 – Consumo e Produção Responsáveis).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Cartografia Colaborativa e Dados Abertos: </a:t>
            </a:r>
            <a:r>
              <a:rPr sz="1200">
                <a:solidFill>
                  <a:srgbClr val="142337"/>
                </a:solidFill>
                <a:latin typeface="Arial"/>
              </a:rPr>
              <a:t>Uso do OpenStreetMap (OSM) e Overpass API para mineração de infraestruturas públicas sem custos e sem restrições de licenças proprietárias (Haklay &amp; Weber, 2008; Ramm et al., 2011).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Curadoria Manual e Qualidade da Informação: </a:t>
            </a:r>
            <a:r>
              <a:rPr sz="1200">
                <a:solidFill>
                  <a:srgbClr val="142337"/>
                </a:solidFill>
                <a:latin typeface="Arial"/>
              </a:rPr>
              <a:t>Formalização e enriquecimento das informações específicas de cada ponto (como regras de materiais aceitos e horários de funcionamento) via curadoria manual de fontes oficiais, evitando a dependência de metadados genéricos de APIs de mapas.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Segurança e Governança Colaborativa: </a:t>
            </a:r>
            <a:r>
              <a:rPr sz="1200">
                <a:solidFill>
                  <a:srgbClr val="142337"/>
                </a:solidFill>
                <a:latin typeface="Arial"/>
              </a:rPr>
              <a:t>Modelo de Controle de Acesso Baseado em Papéis – RBAC (Sandhu et al., 1996), garantindo triagem administrativa antes da publicação definitiva de sugestões populares.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0" y="1280160"/>
            <a:ext cx="54864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0070C0"/>
                </a:solidFill>
                <a:latin typeface="Arial"/>
              </a:rPr>
              <a:t>• </a:t>
            </a:r>
            <a:r>
              <a:rPr sz="1150" b="1">
                <a:solidFill>
                  <a:srgbClr val="0A1E37"/>
                </a:solidFill>
                <a:latin typeface="Arial"/>
              </a:rPr>
              <a:t>Abordagem Metodológica: </a:t>
            </a:r>
            <a:r>
              <a:rPr sz="1150">
                <a:solidFill>
                  <a:srgbClr val="142337"/>
                </a:solidFill>
                <a:latin typeface="Arial"/>
              </a:rPr>
              <a:t>Pesquisa aplicada de natureza tecnológica, orientada pela engenharia de software empírica e design focado no usuário (IHC e acessibilidade).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0070C0"/>
                </a:solidFill>
                <a:latin typeface="Arial"/>
              </a:rPr>
              <a:t>• </a:t>
            </a:r>
            <a:r>
              <a:rPr sz="1150" b="1">
                <a:solidFill>
                  <a:srgbClr val="0A1E37"/>
                </a:solidFill>
                <a:latin typeface="Arial"/>
              </a:rPr>
              <a:t>Framework Ágil (Scrum): </a:t>
            </a:r>
            <a:r>
              <a:rPr sz="1150">
                <a:solidFill>
                  <a:srgbClr val="142337"/>
                </a:solidFill>
                <a:latin typeface="Arial"/>
              </a:rPr>
              <a:t>Escopo decomposto em Product Backlog priorizado por valor de entrega, distribuído em 5 Sprints quinzenais: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0070C0"/>
                </a:solidFill>
                <a:latin typeface="Arial"/>
              </a:rPr>
              <a:t>   – </a:t>
            </a:r>
            <a:r>
              <a:rPr sz="1000">
                <a:solidFill>
                  <a:srgbClr val="1E2D41"/>
                </a:solidFill>
                <a:latin typeface="Arial"/>
              </a:rPr>
              <a:t>Sprint 1: Baseline da plataforma, importação OSM/Overpass, catálogo e mapa interativo responsivo.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0070C0"/>
                </a:solidFill>
                <a:latin typeface="Arial"/>
              </a:rPr>
              <a:t>   – </a:t>
            </a:r>
            <a:r>
              <a:rPr sz="1000">
                <a:solidFill>
                  <a:srgbClr val="1E2D41"/>
                </a:solidFill>
                <a:latin typeface="Arial"/>
              </a:rPr>
              <a:t>Sprint 2: Busca por proximidade do usuário, geolocalização e filtros por categoria de material.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0070C0"/>
                </a:solidFill>
                <a:latin typeface="Arial"/>
              </a:rPr>
              <a:t>   – </a:t>
            </a:r>
            <a:r>
              <a:rPr sz="1000">
                <a:solidFill>
                  <a:srgbClr val="1E2D41"/>
                </a:solidFill>
                <a:latin typeface="Arial"/>
              </a:rPr>
              <a:t>Sprint 3: Autenticação, perfis de acesso (RBAC) e submissão de sugestões comunitárias.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0070C0"/>
                </a:solidFill>
                <a:latin typeface="Arial"/>
              </a:rPr>
              <a:t>   – </a:t>
            </a:r>
            <a:r>
              <a:rPr sz="1000">
                <a:solidFill>
                  <a:srgbClr val="1E2D41"/>
                </a:solidFill>
                <a:latin typeface="Arial"/>
              </a:rPr>
              <a:t>Sprint 4: Painel administrativo de moderação e curadoria ativa de dados dos pontos.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0070C0"/>
                </a:solidFill>
                <a:latin typeface="Arial"/>
              </a:rPr>
              <a:t>   – </a:t>
            </a:r>
            <a:r>
              <a:rPr sz="1000">
                <a:solidFill>
                  <a:srgbClr val="1E2D41"/>
                </a:solidFill>
                <a:latin typeface="Arial"/>
              </a:rPr>
              <a:t>Sprint 5: Painel de impacto ambiental educativo, histórico de descartes e homologação final.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0070C0"/>
                </a:solidFill>
                <a:latin typeface="Arial"/>
              </a:rPr>
              <a:t>• </a:t>
            </a:r>
            <a:r>
              <a:rPr sz="1150" b="1">
                <a:solidFill>
                  <a:srgbClr val="0A1E37"/>
                </a:solidFill>
                <a:latin typeface="Arial"/>
              </a:rPr>
              <a:t>Garantia de Qualidade: </a:t>
            </a:r>
            <a:r>
              <a:rPr sz="1150">
                <a:solidFill>
                  <a:srgbClr val="142337"/>
                </a:solidFill>
                <a:latin typeface="Arial"/>
              </a:rPr>
              <a:t>Testes unitários e de integração automatizados, versionamento com Git/GitHub e implantação contínua (CI/CD).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0" y="1280160"/>
            <a:ext cx="54864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0070C0"/>
                </a:solidFill>
                <a:latin typeface="Arial"/>
              </a:rPr>
              <a:t>• </a:t>
            </a:r>
            <a:r>
              <a:rPr sz="1150" b="1">
                <a:solidFill>
                  <a:srgbClr val="0A1E37"/>
                </a:solidFill>
                <a:latin typeface="Arial"/>
              </a:rPr>
              <a:t>Arquitetura em Camadas RESTful: 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0070C0"/>
                </a:solidFill>
                <a:latin typeface="Arial"/>
              </a:rPr>
              <a:t>   – </a:t>
            </a:r>
            <a:r>
              <a:rPr sz="1000">
                <a:solidFill>
                  <a:srgbClr val="1E2D41"/>
                </a:solidFill>
                <a:latin typeface="Arial"/>
              </a:rPr>
              <a:t>Front-end: React 18 com TypeScript, Vite, TailwindCSS e React-Leaflet; layout acessível e responsivo.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0070C0"/>
                </a:solidFill>
                <a:latin typeface="Arial"/>
              </a:rPr>
              <a:t>   – </a:t>
            </a:r>
            <a:r>
              <a:rPr sz="1000">
                <a:solidFill>
                  <a:srgbClr val="1E2D41"/>
                </a:solidFill>
                <a:latin typeface="Arial"/>
              </a:rPr>
              <a:t>Back-end: Java 21 com Spring Boot 3, Spring Web e Spring Data MongoDB.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0070C0"/>
                </a:solidFill>
                <a:latin typeface="Arial"/>
              </a:rPr>
              <a:t>   – </a:t>
            </a:r>
            <a:r>
              <a:rPr sz="1000">
                <a:solidFill>
                  <a:srgbClr val="1E2D41"/>
                </a:solidFill>
                <a:latin typeface="Arial"/>
              </a:rPr>
              <a:t>Banco de Dados: MongoDB 8 com índice 2dsphere para coordenadas GeoJSON [longitude, latitude].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0070C0"/>
                </a:solidFill>
                <a:latin typeface="Arial"/>
              </a:rPr>
              <a:t>• </a:t>
            </a:r>
            <a:r>
              <a:rPr sz="1150" b="1">
                <a:solidFill>
                  <a:srgbClr val="0A1E37"/>
                </a:solidFill>
                <a:latin typeface="Arial"/>
              </a:rPr>
              <a:t>Pipeline Híbrido de Ingestão e Curadoria: 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0070C0"/>
                </a:solidFill>
                <a:latin typeface="Arial"/>
              </a:rPr>
              <a:t>   – </a:t>
            </a:r>
            <a:r>
              <a:rPr sz="1000">
                <a:solidFill>
                  <a:srgbClr val="1E2D41"/>
                </a:solidFill>
                <a:latin typeface="Arial"/>
              </a:rPr>
              <a:t>Extração OSM: Execução sob demanda via Overpass API com deduplicação por chave única;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0070C0"/>
                </a:solidFill>
                <a:latin typeface="Arial"/>
              </a:rPr>
              <a:t>   – </a:t>
            </a:r>
            <a:r>
              <a:rPr sz="1000">
                <a:solidFill>
                  <a:srgbClr val="1E2D41"/>
                </a:solidFill>
                <a:latin typeface="Arial"/>
              </a:rPr>
              <a:t>Geocodificação Reversa: Consulta controlada ao Nominatim (1 req/s) para pontos sem logradouro;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000">
                <a:solidFill>
                  <a:srgbClr val="0070C0"/>
                </a:solidFill>
                <a:latin typeface="Arial"/>
              </a:rPr>
              <a:t>   – </a:t>
            </a:r>
            <a:r>
              <a:rPr sz="1000">
                <a:solidFill>
                  <a:srgbClr val="1E2D41"/>
                </a:solidFill>
                <a:latin typeface="Arial"/>
              </a:rPr>
              <a:t>Curadoria Manual (Seed): Triagem em fontes municipais oficiais para validar materiais aceitos e horários de funcionamento, eliminando dependência exclusiva de APIs de mapas.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0070C0"/>
                </a:solidFill>
                <a:latin typeface="Arial"/>
              </a:rPr>
              <a:t>• </a:t>
            </a:r>
            <a:r>
              <a:rPr sz="1150" b="1">
                <a:solidFill>
                  <a:srgbClr val="0A1E37"/>
                </a:solidFill>
                <a:latin typeface="Arial"/>
              </a:rPr>
              <a:t>Infraestrutura em Nuvem: </a:t>
            </a:r>
            <a:r>
              <a:rPr sz="1150">
                <a:solidFill>
                  <a:srgbClr val="142337"/>
                </a:solidFill>
                <a:latin typeface="Arial"/>
              </a:rPr>
              <a:t>Ambientes publicados no Render (conteinerização Docker) e cluster MongoDB Atlas (AWS sa-east-1).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0" y="1280160"/>
            <a:ext cx="54864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Base Espacial Integrada e Auditada: </a:t>
            </a:r>
            <a:r>
              <a:rPr sz="1200">
                <a:solidFill>
                  <a:srgbClr val="142337"/>
                </a:solidFill>
                <a:latin typeface="Arial"/>
              </a:rPr>
              <a:t>Coleta e unificação de pontos públicos no Estado de São Paulo, convertendo dados brutos em fichas estruturadas com coordenadas normalizadas e categorias oficiais.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Redução Efetiva da Assimetria: </a:t>
            </a:r>
            <a:r>
              <a:rPr sz="1200">
                <a:solidFill>
                  <a:srgbClr val="142337"/>
                </a:solidFill>
                <a:latin typeface="Arial"/>
              </a:rPr>
              <a:t>Centralização de informações cruciais antes fragmentadas: horários legíveis em português, listagem de materiais (pilhas, celulares, computadores) e botão 'Como chegar'.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Desempenho e Eficiência Geoespacial: </a:t>
            </a:r>
            <a:r>
              <a:rPr sz="1200">
                <a:solidFill>
                  <a:srgbClr val="142337"/>
                </a:solidFill>
                <a:latin typeface="Arial"/>
              </a:rPr>
              <a:t>Consultas espaciais em tempo real com o índice 2dsphere, delimitando pontos por viewport no mapa com tempo de resposta sub-segundo e sem latência perceptível.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Ambiente Operacional Publicado: </a:t>
            </a:r>
            <a:r>
              <a:rPr sz="1200">
                <a:solidFill>
                  <a:srgbClr val="142337"/>
                </a:solidFill>
                <a:latin typeface="Arial"/>
              </a:rPr>
              <a:t>Ecossistema em nuvem validado em produção (Web + API + MongoDB Atlas), permitindo navegação fluida tanto no celular quanto no desktop.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0" y="1280160"/>
            <a:ext cx="54864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Independência de Provedores Proprietários: </a:t>
            </a:r>
            <a:r>
              <a:rPr sz="1200">
                <a:solidFill>
                  <a:srgbClr val="142337"/>
                </a:solidFill>
                <a:latin typeface="Arial"/>
              </a:rPr>
              <a:t>O uso de OpenStreetMap e Nominatim assegura gratuidade e soberania de dados, eliminando os altos custos de licenciamento e restrições de uso da Google Maps Platform.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Papel Crítico da Curadoria Manual: </a:t>
            </a:r>
            <a:r>
              <a:rPr sz="1200">
                <a:solidFill>
                  <a:srgbClr val="142337"/>
                </a:solidFill>
                <a:latin typeface="Arial"/>
              </a:rPr>
              <a:t>APIs de geolocalização oferecem coordenadas, mas omitem detalhes operacionais; a curadoria manual da equipe garantiu a veracidade de horários e regras de aceite de resíduos.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Governança e Confiabilidade: </a:t>
            </a:r>
            <a:r>
              <a:rPr sz="1200">
                <a:solidFill>
                  <a:srgbClr val="142337"/>
                </a:solidFill>
                <a:latin typeface="Arial"/>
              </a:rPr>
              <a:t>O modelo RBAC impede a poluição da base por registros falsos ou duplicados, assegurando que o crowdsourcing comunitário seja sempre validado administrativamente.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Engajamento Direto do Cidadão: </a:t>
            </a:r>
            <a:r>
              <a:rPr sz="1200">
                <a:solidFill>
                  <a:srgbClr val="142337"/>
                </a:solidFill>
                <a:latin typeface="Arial"/>
              </a:rPr>
              <a:t>A simplificação da busca em 3 passos ataca frontalmente o obstáculo dos 87% de retenção domiciliar e 50% de descarte comum identificados pela Green Eletron.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0" y="1280160"/>
            <a:ext cx="54864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Síntese das Entregas: </a:t>
            </a:r>
            <a:r>
              <a:rPr sz="1200">
                <a:solidFill>
                  <a:srgbClr val="142337"/>
                </a:solidFill>
                <a:latin typeface="Arial"/>
              </a:rPr>
              <a:t>Desenvolvimento com sucesso de uma plataforma funcional que integra cartografia aberta, banco NoSQL geoespacial e engenharia ágil focada em sustentabilidade urbana.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Contribuição Prática e Social: </a:t>
            </a:r>
            <a:r>
              <a:rPr sz="1200">
                <a:solidFill>
                  <a:srgbClr val="142337"/>
                </a:solidFill>
                <a:latin typeface="Arial"/>
              </a:rPr>
              <a:t>Entrega de um serviço gratuito que orienta o descarte correto de e-waste, aproxima a população da logística reversa (PNRS) e fortalece as metas dos ODS 11 e 12 da ONU.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Contribuição Acadêmica: </a:t>
            </a:r>
            <a:r>
              <a:rPr sz="1200">
                <a:solidFill>
                  <a:srgbClr val="142337"/>
                </a:solidFill>
                <a:latin typeface="Arial"/>
              </a:rPr>
              <a:t>Metodologia replicável de integração híbrida entre mineração automatizada de dados abertos e curadoria humana qualificada.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1">
                <a:solidFill>
                  <a:srgbClr val="0070C0"/>
                </a:solidFill>
                <a:latin typeface="Arial"/>
              </a:rPr>
              <a:t>• </a:t>
            </a:r>
            <a:r>
              <a:rPr sz="1200" b="1">
                <a:solidFill>
                  <a:srgbClr val="0A1E37"/>
                </a:solidFill>
                <a:latin typeface="Arial"/>
              </a:rPr>
              <a:t>Trabalhos Futuros: 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050">
                <a:solidFill>
                  <a:srgbClr val="0070C0"/>
                </a:solidFill>
                <a:latin typeface="Arial"/>
              </a:rPr>
              <a:t>   – </a:t>
            </a:r>
            <a:r>
              <a:rPr sz="1050">
                <a:solidFill>
                  <a:srgbClr val="1E2D41"/>
                </a:solidFill>
                <a:latin typeface="Arial"/>
              </a:rPr>
              <a:t>Conclusão das Sprints de moderação comunitária e gamificação;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050">
                <a:solidFill>
                  <a:srgbClr val="0070C0"/>
                </a:solidFill>
                <a:latin typeface="Arial"/>
              </a:rPr>
              <a:t>   – </a:t>
            </a:r>
            <a:r>
              <a:rPr sz="1050">
                <a:solidFill>
                  <a:srgbClr val="1E2D41"/>
                </a:solidFill>
                <a:latin typeface="Arial"/>
              </a:rPr>
              <a:t>Implementação do painel educativo com cálculo de carbono e metais nobres recuperados;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050">
                <a:solidFill>
                  <a:srgbClr val="0070C0"/>
                </a:solidFill>
                <a:latin typeface="Arial"/>
              </a:rPr>
              <a:t>   – </a:t>
            </a:r>
            <a:r>
              <a:rPr sz="1050">
                <a:solidFill>
                  <a:srgbClr val="1E2D41"/>
                </a:solidFill>
                <a:latin typeface="Arial"/>
              </a:rPr>
              <a:t>Expansão contínua da cobertura cadastral para outras regiões do país.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0" y="1280160"/>
            <a:ext cx="54864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• </a:t>
            </a:r>
            <a:r>
              <a:rPr sz="1100" b="1">
                <a:solidFill>
                  <a:srgbClr val="0A1E37"/>
                </a:solidFill>
                <a:latin typeface="Arial"/>
              </a:rPr>
              <a:t>BALDÉ, C. P. et al. </a:t>
            </a:r>
            <a:r>
              <a:rPr sz="1100">
                <a:solidFill>
                  <a:srgbClr val="142337"/>
                </a:solidFill>
                <a:latin typeface="Arial"/>
              </a:rPr>
              <a:t>The Global E-waste Monitor 2024. Genebra/Bonn: ITU/UNITAR, 2024.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• </a:t>
            </a:r>
            <a:r>
              <a:rPr sz="1100" b="1">
                <a:solidFill>
                  <a:srgbClr val="0A1E37"/>
                </a:solidFill>
                <a:latin typeface="Arial"/>
              </a:rPr>
              <a:t>BRASIL. </a:t>
            </a:r>
            <a:r>
              <a:rPr sz="1100">
                <a:solidFill>
                  <a:srgbClr val="142337"/>
                </a:solidFill>
                <a:latin typeface="Arial"/>
              </a:rPr>
              <a:t>Lei nº 12.305/2010 (PNRS). Diário Oficial da União, Brasília, DF, 2010.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• </a:t>
            </a:r>
            <a:r>
              <a:rPr sz="1100" b="1">
                <a:solidFill>
                  <a:srgbClr val="0A1E37"/>
                </a:solidFill>
                <a:latin typeface="Arial"/>
              </a:rPr>
              <a:t>BRASIL. </a:t>
            </a:r>
            <a:r>
              <a:rPr sz="1100">
                <a:solidFill>
                  <a:srgbClr val="142337"/>
                </a:solidFill>
                <a:latin typeface="Arial"/>
              </a:rPr>
              <a:t>Decreto nº 10.240/2020 (Logística Reversa de Eletroeletrônicos). DOU, 2020.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• </a:t>
            </a:r>
            <a:r>
              <a:rPr sz="1100" b="1">
                <a:solidFill>
                  <a:srgbClr val="0A1E37"/>
                </a:solidFill>
                <a:latin typeface="Arial"/>
              </a:rPr>
              <a:t>CHODOROW, K. </a:t>
            </a:r>
            <a:r>
              <a:rPr sz="1100">
                <a:solidFill>
                  <a:srgbClr val="142337"/>
                </a:solidFill>
                <a:latin typeface="Arial"/>
              </a:rPr>
              <a:t>MongoDB: The Definitive Guide. 2nd ed. Sebastopol: O'Reilly Media, 2013.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• </a:t>
            </a:r>
            <a:r>
              <a:rPr sz="1100" b="1">
                <a:solidFill>
                  <a:srgbClr val="0A1E37"/>
                </a:solidFill>
                <a:latin typeface="Arial"/>
              </a:rPr>
              <a:t>GREEN ELETRON. </a:t>
            </a:r>
            <a:r>
              <a:rPr sz="1100">
                <a:solidFill>
                  <a:srgbClr val="142337"/>
                </a:solidFill>
                <a:latin typeface="Arial"/>
              </a:rPr>
              <a:t>Pesquisa sobre resíduos eletrônicos no Brasil 2021. São Paulo, 2021.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• </a:t>
            </a:r>
            <a:r>
              <a:rPr sz="1100" b="1">
                <a:solidFill>
                  <a:srgbClr val="0A1E37"/>
                </a:solidFill>
                <a:latin typeface="Arial"/>
              </a:rPr>
              <a:t>HAKLAY, M.; WEBER, P. </a:t>
            </a:r>
            <a:r>
              <a:rPr sz="1100">
                <a:solidFill>
                  <a:srgbClr val="142337"/>
                </a:solidFill>
                <a:latin typeface="Arial"/>
              </a:rPr>
              <a:t>OpenStreetMap: User-Generated Street Maps. IEEE Pervasive Computing, 2008.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• </a:t>
            </a:r>
            <a:r>
              <a:rPr sz="1100" b="1">
                <a:solidFill>
                  <a:srgbClr val="0A1E37"/>
                </a:solidFill>
                <a:latin typeface="Arial"/>
              </a:rPr>
              <a:t>ORGANIZAÇÃO DAS NAÇÕES UNIDAS. </a:t>
            </a:r>
            <a:r>
              <a:rPr sz="1100">
                <a:solidFill>
                  <a:srgbClr val="142337"/>
                </a:solidFill>
                <a:latin typeface="Arial"/>
              </a:rPr>
              <a:t>Transformando nosso mundo: Agenda 2030 (ODS 11 e 12). ONU, 2015.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• </a:t>
            </a:r>
            <a:r>
              <a:rPr sz="1100" b="1">
                <a:solidFill>
                  <a:srgbClr val="0A1E37"/>
                </a:solidFill>
                <a:latin typeface="Arial"/>
              </a:rPr>
              <a:t>RAMM, F.; TOPF, J.; CHILTON, S. </a:t>
            </a:r>
            <a:r>
              <a:rPr sz="1100">
                <a:solidFill>
                  <a:srgbClr val="142337"/>
                </a:solidFill>
                <a:latin typeface="Arial"/>
              </a:rPr>
              <a:t>OpenStreetMap. Cambridge: UIT Cambridge Ltd., 2011.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70C0"/>
                </a:solidFill>
                <a:latin typeface="Arial"/>
              </a:rPr>
              <a:t>• </a:t>
            </a:r>
            <a:r>
              <a:rPr sz="1100" b="1">
                <a:solidFill>
                  <a:srgbClr val="0A1E37"/>
                </a:solidFill>
                <a:latin typeface="Arial"/>
              </a:rPr>
              <a:t>SANDHU, R. S. et al. </a:t>
            </a:r>
            <a:r>
              <a:rPr sz="1100">
                <a:solidFill>
                  <a:srgbClr val="142337"/>
                </a:solidFill>
                <a:latin typeface="Arial"/>
              </a:rPr>
              <a:t>Role-based access control models. Computer, v. 29, n. 2, 1996.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